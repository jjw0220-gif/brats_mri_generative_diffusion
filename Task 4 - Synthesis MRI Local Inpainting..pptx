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erif Display" charset="1" panose="00000000000000000000"/>
      <p:regular r:id="rId17"/>
    </p:embeddedFont>
    <p:embeddedFont>
      <p:font typeface="Open Sauce" charset="1" panose="00000500000000000000"/>
      <p:regular r:id="rId18"/>
    </p:embeddedFont>
    <p:embeddedFont>
      <p:font typeface="Arimo" charset="1" panose="020B0604020202020204"/>
      <p:regular r:id="rId19"/>
    </p:embeddedFont>
    <p:embeddedFont>
      <p:font typeface="Open Sauce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https://arxiv.org/pdf/2403.14499" TargetMode="External" Type="http://schemas.openxmlformats.org/officeDocument/2006/relationships/hyperlink"/><Relationship Id="rId4" Target="https://arxiv.org/pdf/2402.17307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https://arxiv.org/pdf/2403.14499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https://link.springer.com/chapter/10.1007/978-3-032-16370-7_14" TargetMode="External" Type="http://schemas.openxmlformats.org/officeDocument/2006/relationships/hyperlink"/><Relationship Id="rId4" Target="https://arxiv.org/pdf/2511.20202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https://arxiv.org/pdf/2403.14499" TargetMode="External" Type="http://schemas.openxmlformats.org/officeDocument/2006/relationships/hyperlink"/><Relationship Id="rId4" Target="https://arxiv.org/pdf/2307.15208" TargetMode="External" Type="http://schemas.openxmlformats.org/officeDocument/2006/relationships/hyperlink"/><Relationship Id="rId5" Target="https://arxiv.org/pdf/2403.14499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876504"/>
            <a:ext cx="10080737" cy="1335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sz="77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BraTS 2026 C</a:t>
            </a:r>
            <a:r>
              <a:rPr lang="en-US" sz="77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hallenge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ASK 4 - SYNTHESIS: MRI LOCAL INPAINTING.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王政傑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18762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2026/6/28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485786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40170" y="3311115"/>
            <a:ext cx="15173224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核心任務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目標：開發創新的演算法，在患有神經膠質瘤（GLIOMA，一種腦瘤）的 3D 腦部核磁共振造影（MRI）影像中，將受到腫瘤影響的區域「修復（INPAINTING）」並合成出健康的腦組織。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具體執行：參賽者需要建立模型，根據被挖空/去除腫瘤後的腦部影像（VOIDED BRAINS）以及對應的修復遮罩（INPAINTING MASK），合成出逼真的健康腦部影像。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3" tooltip="https://arxiv.org/pdf/2403.14499"/>
          </p:cNvPr>
          <p:cNvSpPr/>
          <p:nvPr/>
        </p:nvSpPr>
        <p:spPr>
          <a:xfrm flipH="false" flipV="false" rot="0">
            <a:off x="1905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485786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66399" y="2787343"/>
            <a:ext cx="15173224" cy="639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2023 年（</a:t>
            </a: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首屆：探索 3D 空間連續性）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第 1 名：YING-WENG ET AL. (寧波諾丁漢大學)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論文： U-NET BASED HEALTHY 3D BRAIN TISSUE INPAINTING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核心： 3D U-NET + 直接優化 MAE 與全局 SSIM。把 INPAINTING 當作監督式重建，直接對著大會指標刷分。雖然數值最高，但視覺效果偏模糊。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第 2 名：DOMASO ET AL.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論文： BRAIN MRI INPAINTING WITH 2D DIFFUSION MODELS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核心</a:t>
            </a: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： 2D DDPM (SLICE-BY-SLICE)。橫切面（AXIAL）視覺細節極為真實，但因為缺乏 3D 空間感知，重組時在矢狀面與冠狀面產生严重的條紋斷層偽影（STRIPE ARTIFACTS），導致 RMSE 誤差拉大。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669054" y="6061670"/>
            <a:ext cx="3908673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arxiv.org/pdf/2402.17307"/>
              </a:rPr>
              <a:t>https://arxiv.org/pdf/2402.17307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3" tooltip="https://arxiv.org/pdf/2403.14499"/>
          </p:cNvPr>
          <p:cNvSpPr/>
          <p:nvPr/>
        </p:nvSpPr>
        <p:spPr>
          <a:xfrm flipH="false" flipV="false" rot="0">
            <a:off x="1905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485786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5" id="5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166399" y="2659949"/>
            <a:ext cx="15173224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2024 年（第二屆：</a:t>
            </a: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腦膜瘤 MENINGIOMA 泛化大考驗）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第 1 名：ZHANG ET AL. / YING WENG (寧波諾丁漢大學)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論文： U-NET BASED HEALTHY 3D BRAIN TISSUE INPAINTING 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核心： 3D U-NET + 多重隨機遮罩增強（MULTIPLE HEALTHY MASK GENERATION）。為了應對新引入的腦膜瘤測試集，同一個大腦在訓練時動態挖 5 個隨機傷口，強迫網路學習大腦的解剖學對稱性，而非死記特定邊緣。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3" tooltip="https://link.springer.com/chapter/10.1007/978-3-032-16370-7_14"/>
          </p:cNvPr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4" id="4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66399" y="1550812"/>
            <a:ext cx="16494936" cy="852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2025 年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第 1 名：ROBUST 3D BRAIN 團隊 (YING WENG 延續型)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論文： ROBUST 3D BRAIN MRI INPAINTING WITH RANDOM MASKING AUGMENTATION (ARXIV:2511.20202)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核心： 3D TRANSFORMER-U-NET + 不規則 3D 幾何體隨機遮罩（RANDOM MASKING AUGMENTATION）。將隨機遮罩策略推向極致，不只用腫瘤形狀，還混入隨機方塊、球體。在官方線上測試集開出 SSIM 0.919、PSNR 26.93 的恐怖歷史新高。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第 2 名：MULTI-STAGE DDIM 融合流派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論文/策略： CONTEXT-AWARE HEALTHY BRAIN INPAINTING: A MULTI-STAGE DDIM APPROACH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核心</a:t>
            </a: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： 3D 條件式擴散模型 + 後處理上下文融合（CONTEXT INJECTION）。由於單一網路架構達到瓶頸，此方法著重於POST-PROCESS。他們把 U-NET 預測的穩定巨觀結構，與 DIFFUSION 生成的微觀組織進行權重平均，再透過輕量化網絡進行去模糊邊緣縫合，兼顧指標與視覺解剖合理性。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395542" y="2169755"/>
            <a:ext cx="353392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arxiv.org/pdf/2511.20202"/>
              </a:rPr>
              <a:t>https://arxiv.org/pdf/2511.20202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1233825"/>
            <a:ext cx="6099956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Some other idea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3624" y="3066467"/>
            <a:ext cx="14972376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明明diffusion model生圖能力比較強，但是U-net卻可以靠著mask的技巧，打敗diffusion model，我猜隨機masking可能蠻重要的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small dataset = diffusion 反而不穩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PSNR / SSIM 不愛 diffusion</a:t>
            </a:r>
          </a:p>
          <a:p>
            <a:pPr algn="l" marL="604518" indent="-302259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diffusion model在3D上還有開發空間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4" id="4"/>
          <p:cNvGraphicFramePr/>
          <p:nvPr/>
        </p:nvGraphicFramePr>
        <p:xfrm>
          <a:off x="1203392" y="1541891"/>
          <a:ext cx="5657850" cy="4400550"/>
        </p:xfrm>
        <a:graphic>
          <a:graphicData uri="http://schemas.openxmlformats.org/presentationml/2006/ole">
            <p:oleObj imgW="6781800" imgH="5524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3" tooltip="https://arxiv.org/pdf/2403.14499"/>
          </p:cNvPr>
          <p:cNvSpPr/>
          <p:nvPr/>
        </p:nvSpPr>
        <p:spPr>
          <a:xfrm flipH="false" flipV="false" rot="0">
            <a:off x="1905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174577" y="2533024"/>
            <a:ext cx="8307875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使用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Mod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(LDM)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來做大腦影像的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g。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83262" y="2674320"/>
            <a:ext cx="909958" cy="90995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810680" y="2772429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74577" y="4537700"/>
            <a:ext cx="8307875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從 Hugging Face 下載預訓練的 autoencoder.pt 和 model.pt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83262" y="4678996"/>
            <a:ext cx="909958" cy="9099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820205" y="4777105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74577" y="6824654"/>
            <a:ext cx="8307875" cy="53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再進行train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83262" y="6684962"/>
            <a:ext cx="909958" cy="9099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810680" y="6783072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baseline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758357" y="3153932"/>
            <a:ext cx="4820102" cy="47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2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arxiv.org/pdf/2307.15208"/>
              </a:rPr>
              <a:t>https://arxiv.org/pdf/2307.15208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755342" y="344866"/>
            <a:ext cx="3117099" cy="32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1754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5" tooltip="https://arxiv.org/pdf/2403.14499"/>
              </a:rPr>
              <a:t>https://arxiv.org/pdf/2403.14499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66399" y="3045140"/>
            <a:ext cx="5026555" cy="6213160"/>
            <a:chOff x="0" y="0"/>
            <a:chExt cx="4489857" cy="55497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9857" cy="5549766"/>
            </a:xfrm>
            <a:custGeom>
              <a:avLst/>
              <a:gdLst/>
              <a:ahLst/>
              <a:cxnLst/>
              <a:rect r="r" b="b" t="t" l="l"/>
              <a:pathLst>
                <a:path h="5549766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5526775"/>
                  </a:lnTo>
                  <a:cubicBezTo>
                    <a:pt x="4489857" y="5539473"/>
                    <a:pt x="4479564" y="5549766"/>
                    <a:pt x="4466866" y="5549766"/>
                  </a:cubicBezTo>
                  <a:lnTo>
                    <a:pt x="22991" y="5549766"/>
                  </a:lnTo>
                  <a:cubicBezTo>
                    <a:pt x="10293" y="5549766"/>
                    <a:pt x="0" y="5539473"/>
                    <a:pt x="0" y="5526775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89857" cy="5597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630723" y="3156609"/>
            <a:ext cx="10154162" cy="6023586"/>
            <a:chOff x="0" y="0"/>
            <a:chExt cx="9069977" cy="53804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69977" cy="5380433"/>
            </a:xfrm>
            <a:custGeom>
              <a:avLst/>
              <a:gdLst/>
              <a:ahLst/>
              <a:cxnLst/>
              <a:rect r="r" b="b" t="t" l="l"/>
              <a:pathLst>
                <a:path h="5380433" w="9069977">
                  <a:moveTo>
                    <a:pt x="11381" y="0"/>
                  </a:moveTo>
                  <a:lnTo>
                    <a:pt x="9058597" y="0"/>
                  </a:lnTo>
                  <a:cubicBezTo>
                    <a:pt x="9064882" y="0"/>
                    <a:pt x="9069977" y="5095"/>
                    <a:pt x="9069977" y="11381"/>
                  </a:cubicBezTo>
                  <a:lnTo>
                    <a:pt x="9069977" y="5369052"/>
                  </a:lnTo>
                  <a:cubicBezTo>
                    <a:pt x="9069977" y="5372070"/>
                    <a:pt x="9068778" y="5374965"/>
                    <a:pt x="9066644" y="5377099"/>
                  </a:cubicBezTo>
                  <a:cubicBezTo>
                    <a:pt x="9064510" y="5379234"/>
                    <a:pt x="9061615" y="5380433"/>
                    <a:pt x="9058597" y="5380433"/>
                  </a:cubicBezTo>
                  <a:lnTo>
                    <a:pt x="11381" y="5380433"/>
                  </a:lnTo>
                  <a:cubicBezTo>
                    <a:pt x="8363" y="5380433"/>
                    <a:pt x="5468" y="5379234"/>
                    <a:pt x="3333" y="5377099"/>
                  </a:cubicBezTo>
                  <a:cubicBezTo>
                    <a:pt x="1199" y="5374965"/>
                    <a:pt x="0" y="5372070"/>
                    <a:pt x="0" y="5369052"/>
                  </a:cubicBezTo>
                  <a:lnTo>
                    <a:pt x="0" y="11381"/>
                  </a:lnTo>
                  <a:cubicBezTo>
                    <a:pt x="0" y="8363"/>
                    <a:pt x="1199" y="5468"/>
                    <a:pt x="3333" y="3333"/>
                  </a:cubicBezTo>
                  <a:cubicBezTo>
                    <a:pt x="5468" y="1199"/>
                    <a:pt x="8363" y="0"/>
                    <a:pt x="1138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069977" cy="5428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9119" y="3485515"/>
            <a:ext cx="4276833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pretrained model 訓練的dataset基於較早期的 Bra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TS 2016/2017 數據。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6405" y="7112157"/>
            <a:ext cx="4234693" cy="1589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spc="22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SOL: 用BRATS 2023 (LOCAL SYNTHESIS CHALLENGE) 數據集做FINE TUNE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41259" y="5610382"/>
            <a:ext cx="3848098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差異在於： BRATS 2023 經過了更嚴格的 SRI24 空間解剖對齊與高清強度正規化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76803" y="3376719"/>
            <a:ext cx="4277713" cy="334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官方提供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的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預訓練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LDM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架構本質上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是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conditional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（無條件生成）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的，UNet 的輸入通道數（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_channels）預設只有 8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76803" y="7121682"/>
            <a:ext cx="4277713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這導致模型在修復時，只會盲目地從雜訊中憑空變出整顆大腦（憑空亂生），無法感知局部病變的位置，也無法參考並保留周邊殘留的健康組織結構。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47356" y="3646393"/>
            <a:ext cx="3841537" cy="518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pc="22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SOL: 將 3D UNET 的第一層卷積輸入通道從 8 擴張至 17。新增的 9 個通道用來拼入MASKED IMAGE LATENT與MASK。</a:t>
            </a: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pc="22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載入權重時，手動複製前 8 通道的預訓練記憶，新開闢的 9 通道初始化為 0，確保微調初期梯度穩定。</a:t>
            </a: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pc="22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最後再加入隨機MASK，提升多樣性和能力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Goal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9323" y="3050543"/>
            <a:ext cx="1137761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除了可以inpainting外，希望也可以把有腫瘤的地方改成健康的。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9323" y="3968132"/>
            <a:ext cx="13867436" cy="2729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MASK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分流策略（用健康訓練，用不健康推理）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 spc="27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TRAIN： 程式碼過濾出 HEALTHY MASK（標籤 1）將健康腦區挖洞。因為挖洞前有完美的標準答案（GROUND TRUTH），模型在此進行自我監督學習，計算 MSE 損失，學會「如何參考周邊結構把洞補好」。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INFERENCE： 程式碼切換為 UNHEALTHY MASK（標籤 2），將真實腫瘤擦除，啟動模型學到的補洞超能力進行盲猜修復。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6399" y="7286983"/>
            <a:ext cx="14058527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24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在 INFERENCE 迴圈中加入強制校正：每一步去噪完後，利用 MASK 強制將遮罩外的特徵替換回原圖，確保非病變區域 100% 不失真。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DAHN35c3AuM</dc:identifier>
  <dcterms:modified xsi:type="dcterms:W3CDTF">2011-08-01T06:04:30Z</dcterms:modified>
  <cp:revision>1</cp:revision>
  <dc:title>Task 4 - Synthesis: MRI Local Inpainting.</dc:title>
</cp:coreProperties>
</file>